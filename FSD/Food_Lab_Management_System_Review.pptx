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project name and scope come from the README overview.</a:t>
            </a:r>
          </a:p>
          <a:p>
            <a:r>
              <a:rPr lang="en-US"/>
              <a:t>The agenda mirrors the sample deck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functional requirements 1-4 are the README Features list.</a:t>
            </a:r>
          </a:p>
          <a:p>
            <a:r>
              <a:rPr lang="en-US"/>
              <a:t>PROJECT-BASED ADDITION: functional item 5 and all non-functional requirements are logical requirements derived from the tech stack and project structure. No performance figures are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React client, Express API, MongoDB, ports 5000 / 5173, MONGO_URI, and the client / server split are all in the README.</a:t>
            </a:r>
          </a:p>
          <a:p>
            <a:r>
              <a:rPr lang="en-US"/>
              <a:t>PROJECT-BASED ADDITION: the three-tier diagram and the client-to-API-to-database data flow are the logical arrangement of those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the use cases map directly to the README Features (batch tracking, chemical / microbial / quality testing records, compliance reporting, dashboard).</a:t>
            </a:r>
          </a:p>
          <a:p>
            <a:r>
              <a:rPr lang="en-US"/>
              <a:t>PROJECT-BASED ADDITION: the two actors and the actor-to-use-case links are illustrative. The README does not define user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the README mentions MongoDB models, the foodlab database and the testing / compliance / traceability features.</a:t>
            </a:r>
          </a:p>
          <a:p>
            <a:r>
              <a:rPr lang="en-US"/>
              <a:t>PROJECT-BASED ADDITION: the three entities, their attributes and the 1:N relationships are a logical model implied by those features. The README does not list the actual collections or fields, so confirm against the models in the server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module names and descriptions come from the README Features list and Project Structure.</a:t>
            </a:r>
          </a:p>
          <a:p>
            <a:r>
              <a:rPr lang="en-US"/>
              <a:t>PROJECT-BASED ADDITION: the Key Functions column is a logical breakdown of each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MongoDB, Express.js, React.js, Node.js, npm commands, server/.env and local MongoDB are all in the README.</a:t>
            </a:r>
          </a:p>
          <a:p>
            <a:r>
              <a:rPr lang="en-US"/>
              <a:t>No extra libraries have been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the four features and the browser address (localhost:5173) come from the README.</a:t>
            </a:r>
          </a:p>
          <a:p>
            <a:r>
              <a:rPr lang="en-US"/>
              <a:t>PROJECT-BASED ADDITION: the wireframe is a conceptual layout and NOT a screenshot. Replace or supplement it with real screens from the running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React frontend in client, port 5173, install and start commands.</a:t>
            </a:r>
          </a:p>
          <a:p>
            <a:r>
              <a:rPr lang="en-US"/>
              <a:t>PROJECT-BASED ADDITION: the component-based UI mapping to the four features is the logical use of React for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everything on this slide is stated in the README (server folder, Express API, MongoDB models, server/.env, PORT, commands).</a:t>
            </a:r>
          </a:p>
          <a:p>
            <a:r>
              <a:rPr lang="en-US"/>
              <a:t>"The backend reads PORT and MONGO_URI" is the natural reading of the README Environment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local MongoDB, foodlab database, MONGO_URI, MongoDB models.</a:t>
            </a:r>
          </a:p>
          <a:p>
            <a:r>
              <a:rPr lang="en-US"/>
              <a:t>PROJECT-BASED ADDITION: the logical collection names follow the ER diagram and should be matched to the actual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the README only states that the server provides an Express API.</a:t>
            </a:r>
          </a:p>
          <a:p>
            <a:r>
              <a:rPr lang="en-US"/>
              <a:t>PROJECT-BASED ADDITION: the endpoint list is a proposed REST design derived from the features. The README does not list the actual routes, so replace these with your real routes if they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features and the client / server setup are from the README.</a:t>
            </a:r>
          </a:p>
          <a:p>
            <a:r>
              <a:rPr lang="en-US"/>
              <a:t>No completion percentages are shown, because the README gives no progress figures. Replace the status text with your real progress if you have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 screenshots exist in the README or uploaded files, so these frames are intentionally left as placeholders. Screenshots are not fabricated.</a:t>
            </a:r>
          </a:p>
          <a:p>
            <a:r>
              <a:rPr lang="en-US"/>
              <a:t>Run the app (npm run dev, then http://localhost:5173) and paste real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each solution is a step from the README Run the app and Environment sections.</a:t>
            </a:r>
          </a:p>
          <a:p>
            <a:r>
              <a:rPr lang="en-US"/>
              <a:t>PROJECT-BASED ADDITION: framing them as common setup challenges is a logical addition. These are not reported project experiences, so replace them with your own if you have different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README lists no future work.</a:t>
            </a:r>
          </a:p>
          <a:p>
            <a:r>
              <a:rPr lang="en-US"/>
              <a:t>PROJECT-BASED ADDITION: all items are realistic enhancements that follow from the described features (compliance reporting, quality testing, dashboard).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the README and the four official technology documentations.</a:t>
            </a:r>
          </a:p>
          <a:p>
            <a:r>
              <a:rPr lang="en-US"/>
              <a:t>No papers or external citations were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37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612F9F-E4AA-3C2A-336E-CD2FDF2947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98961" y="721014"/>
            <a:ext cx="1181735" cy="12407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3BA517-EE95-48F3-D623-53B4B06851B4}"/>
              </a:ext>
            </a:extLst>
          </p:cNvPr>
          <p:cNvSpPr txBox="1"/>
          <p:nvPr/>
        </p:nvSpPr>
        <p:spPr>
          <a:xfrm>
            <a:off x="3323327" y="1050040"/>
            <a:ext cx="609456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b="1" dirty="0">
                <a:solidFill>
                  <a:srgbClr val="0A3064"/>
                </a:solidFill>
                <a:latin typeface="Times New Roman"/>
              </a:rPr>
              <a:t>EASWARI ENGINEERING COLLEGE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730FE-39AF-9282-F7E7-250FD91CAF89}"/>
              </a:ext>
            </a:extLst>
          </p:cNvPr>
          <p:cNvSpPr txBox="1"/>
          <p:nvPr/>
        </p:nvSpPr>
        <p:spPr>
          <a:xfrm>
            <a:off x="3323327" y="1978560"/>
            <a:ext cx="60945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700" b="1" dirty="0">
                <a:solidFill>
                  <a:srgbClr val="0A3064"/>
                </a:solidFill>
                <a:latin typeface="Times New Roman"/>
              </a:rPr>
              <a:t>FOOD LAB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6900E6-61BD-2C45-2E41-B27BAAFF3B2F}"/>
              </a:ext>
            </a:extLst>
          </p:cNvPr>
          <p:cNvSpPr txBox="1"/>
          <p:nvPr/>
        </p:nvSpPr>
        <p:spPr>
          <a:xfrm>
            <a:off x="3224472" y="3235761"/>
            <a:ext cx="609456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700" b="1" dirty="0">
                <a:solidFill>
                  <a:srgbClr val="0A3064"/>
                </a:solidFill>
                <a:latin typeface="Times New Roman"/>
              </a:rPr>
              <a:t>INFORMATION TECHNOLOGY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12A544-2D38-DAB1-42C3-F34B78561CF8}"/>
              </a:ext>
            </a:extLst>
          </p:cNvPr>
          <p:cNvSpPr txBox="1"/>
          <p:nvPr/>
        </p:nvSpPr>
        <p:spPr>
          <a:xfrm>
            <a:off x="718149" y="4916383"/>
            <a:ext cx="6094563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700" b="1" u="sng" dirty="0">
                <a:solidFill>
                  <a:srgbClr val="0A3064"/>
                </a:solidFill>
                <a:latin typeface="Times New Roman"/>
              </a:rPr>
              <a:t>PRESENTED BY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B0F023-2A7A-D329-4410-E69BA90164F8}"/>
              </a:ext>
            </a:extLst>
          </p:cNvPr>
          <p:cNvSpPr txBox="1"/>
          <p:nvPr/>
        </p:nvSpPr>
        <p:spPr>
          <a:xfrm>
            <a:off x="991607" y="5273561"/>
            <a:ext cx="1449308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IN" sz="2000" b="1" dirty="0">
                <a:solidFill>
                  <a:srgbClr val="0A3064"/>
                </a:solidFill>
                <a:latin typeface="Times New Roman"/>
              </a:rPr>
              <a:t>Sarath Raj V</a:t>
            </a:r>
            <a:endParaRPr sz="2000" b="1" dirty="0">
              <a:solidFill>
                <a:srgbClr val="0A3064"/>
              </a:solidFill>
              <a:latin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454CFE-58CB-A29E-13DC-B00AFD0293BE}"/>
              </a:ext>
            </a:extLst>
          </p:cNvPr>
          <p:cNvSpPr txBox="1"/>
          <p:nvPr/>
        </p:nvSpPr>
        <p:spPr>
          <a:xfrm>
            <a:off x="1064759" y="5621033"/>
            <a:ext cx="123110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0A3064"/>
                </a:solidFill>
                <a:latin typeface="Times New Roman"/>
              </a:rPr>
              <a:t>310624205</a:t>
            </a:r>
            <a:r>
              <a:rPr lang="en-IN" sz="1600" b="1" dirty="0">
                <a:solidFill>
                  <a:srgbClr val="0A3064"/>
                </a:solidFill>
                <a:latin typeface="Times New Roman"/>
              </a:rPr>
              <a:t>238</a:t>
            </a:r>
            <a:endParaRPr sz="1600" b="1" dirty="0">
              <a:solidFill>
                <a:srgbClr val="0A3064"/>
              </a:solidFill>
              <a:latin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F2C028-6A49-387B-9674-ED09468A3F11}"/>
              </a:ext>
            </a:extLst>
          </p:cNvPr>
          <p:cNvSpPr txBox="1"/>
          <p:nvPr/>
        </p:nvSpPr>
        <p:spPr>
          <a:xfrm>
            <a:off x="1431087" y="5906949"/>
            <a:ext cx="41145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0A3064"/>
                </a:solidFill>
                <a:latin typeface="Times New Roman"/>
              </a:rPr>
              <a:t>IT 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E3DAB7-1B12-356D-E4F7-100E89BB4D88}"/>
              </a:ext>
            </a:extLst>
          </p:cNvPr>
          <p:cNvSpPr txBox="1"/>
          <p:nvPr/>
        </p:nvSpPr>
        <p:spPr>
          <a:xfrm>
            <a:off x="7118949" y="4864475"/>
            <a:ext cx="6094563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700" b="1" u="sng" dirty="0">
                <a:solidFill>
                  <a:srgbClr val="0A3064"/>
                </a:solidFill>
                <a:latin typeface="Times New Roman"/>
              </a:rPr>
              <a:t>UNDER THE GUIDANCE OF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93A92D-B6A5-8E99-FE08-EDC73B4ACE41}"/>
              </a:ext>
            </a:extLst>
          </p:cNvPr>
          <p:cNvSpPr txBox="1"/>
          <p:nvPr/>
        </p:nvSpPr>
        <p:spPr>
          <a:xfrm>
            <a:off x="7338565" y="5169324"/>
            <a:ext cx="66078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dirty="0">
                <a:solidFill>
                  <a:srgbClr val="0A3064"/>
                </a:solidFill>
                <a:latin typeface="Times New Roman"/>
              </a:rPr>
              <a:t>Ms. Grandhi Sai Lakshmi</a:t>
            </a:r>
          </a:p>
        </p:txBody>
      </p:sp>
    </p:spTree>
    <p:extLst>
      <p:ext uri="{BB962C8B-B14F-4D97-AF65-F5344CB8AC3E}">
        <p14:creationId xmlns:p14="http://schemas.microsoft.com/office/powerpoint/2010/main" val="425847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 |  FOOD PROCESSING LABORATORY MANAGEMENT 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This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(Functional &amp; Non-Functional)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System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&amp; ER Diagrams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 &amp; Tech Stack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Design, Frontend &amp; Backend Build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API Design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Status, Screenshots &amp; Challenges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tracking and traceability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Chemical, microbial &amp; quality testing records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 &amp; audit support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operations &amp; quality overview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retrieve records through the Express API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browser-based React interface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Modularity: separate client and server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storage: records persisted in MongoDB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Maintainability: modular MERN codebase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Portability: runs locally, configured via server/.env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(Detailed)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280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TIER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folder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8006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 (server folder)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B2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3210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models · foodlab database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client communicates with the Express API, which reads and writes data in MongoDB.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13258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config:  API on port 5000   |   Client at localhost:5173   |   MongoDB at 127.0.0.1:27017/foodlab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Use Cases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Staff: track batches and record chemical, microbial &amp; quality tests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Officer: generate compliance reports and view the dashboard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are illustrative; the README does not define user roles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  <p:sp>
        <p:nvSpPr>
          <p:cNvPr id="201" name="Diagram System 201"/>
          <p:cNvSpPr/>
          <p:nvPr/>
        </p:nvSpPr>
        <p:spPr>
          <a:xfrm>
            <a:off x="2377440" y="1874520"/>
            <a:ext cx="3474720" cy="3886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2" name="Diagram Text 202"/>
          <p:cNvSpPr txBox="1"/>
          <p:nvPr/>
        </p:nvSpPr>
        <p:spPr>
          <a:xfrm>
            <a:off x="246888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0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Lab Management System</a:t>
            </a:r>
          </a:p>
        </p:txBody>
      </p:sp>
      <p:sp>
        <p:nvSpPr>
          <p:cNvPr id="203" name="Diagram Line 203"/>
          <p:cNvSpPr/>
          <p:nvPr/>
        </p:nvSpPr>
        <p:spPr>
          <a:xfrm flipV="1">
            <a:off x="1892808" y="2514600"/>
            <a:ext cx="713232" cy="7772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4" name="Diagram Line 204"/>
          <p:cNvSpPr/>
          <p:nvPr/>
        </p:nvSpPr>
        <p:spPr>
          <a:xfrm flipV="1">
            <a:off x="1892808" y="3099816"/>
            <a:ext cx="713232" cy="192024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Diagram Line 205"/>
          <p:cNvSpPr/>
          <p:nvPr/>
        </p:nvSpPr>
        <p:spPr>
          <a:xfrm>
            <a:off x="1892808" y="3291840"/>
            <a:ext cx="713232" cy="393192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6" name="Diagram Line 206"/>
          <p:cNvSpPr/>
          <p:nvPr/>
        </p:nvSpPr>
        <p:spPr>
          <a:xfrm>
            <a:off x="1892808" y="3291840"/>
            <a:ext cx="713232" cy="978408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7" name="Diagram Line 207"/>
          <p:cNvSpPr/>
          <p:nvPr/>
        </p:nvSpPr>
        <p:spPr>
          <a:xfrm flipV="1">
            <a:off x="5623560" y="4754880"/>
            <a:ext cx="713232" cy="100584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8" name="Diagram Line 208"/>
          <p:cNvSpPr/>
          <p:nvPr/>
        </p:nvSpPr>
        <p:spPr>
          <a:xfrm flipV="1">
            <a:off x="5623560" y="4754880"/>
            <a:ext cx="713232" cy="6858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9" name="Diagram UseCase 209"/>
          <p:cNvSpPr/>
          <p:nvPr/>
        </p:nvSpPr>
        <p:spPr>
          <a:xfrm>
            <a:off x="2606040" y="2286000"/>
            <a:ext cx="301752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Diagram Text 210"/>
          <p:cNvSpPr txBox="1"/>
          <p:nvPr/>
        </p:nvSpPr>
        <p:spPr>
          <a:xfrm>
            <a:off x="269748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Trace Batches</a:t>
            </a:r>
          </a:p>
        </p:txBody>
      </p:sp>
      <p:sp>
        <p:nvSpPr>
          <p:cNvPr id="211" name="Diagram UseCase 211"/>
          <p:cNvSpPr/>
          <p:nvPr/>
        </p:nvSpPr>
        <p:spPr>
          <a:xfrm>
            <a:off x="2606040" y="2871216"/>
            <a:ext cx="301752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2" name="Diagram Text 212"/>
          <p:cNvSpPr txBox="1"/>
          <p:nvPr/>
        </p:nvSpPr>
        <p:spPr>
          <a:xfrm>
            <a:off x="2697480" y="28712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Chemical Tests</a:t>
            </a:r>
          </a:p>
        </p:txBody>
      </p:sp>
      <p:sp>
        <p:nvSpPr>
          <p:cNvPr id="213" name="Diagram UseCase 213"/>
          <p:cNvSpPr/>
          <p:nvPr/>
        </p:nvSpPr>
        <p:spPr>
          <a:xfrm>
            <a:off x="2606040" y="3456432"/>
            <a:ext cx="301752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4" name="Diagram Text 214"/>
          <p:cNvSpPr txBox="1"/>
          <p:nvPr/>
        </p:nvSpPr>
        <p:spPr>
          <a:xfrm>
            <a:off x="2697480" y="3456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Microbial Tests</a:t>
            </a:r>
          </a:p>
        </p:txBody>
      </p:sp>
      <p:sp>
        <p:nvSpPr>
          <p:cNvPr id="215" name="Diagram UseCase 215"/>
          <p:cNvSpPr/>
          <p:nvPr/>
        </p:nvSpPr>
        <p:spPr>
          <a:xfrm>
            <a:off x="2606040" y="4041648"/>
            <a:ext cx="301752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6" name="Diagram Text 216"/>
          <p:cNvSpPr txBox="1"/>
          <p:nvPr/>
        </p:nvSpPr>
        <p:spPr>
          <a:xfrm>
            <a:off x="269748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Quality Tests</a:t>
            </a:r>
          </a:p>
        </p:txBody>
      </p:sp>
      <p:sp>
        <p:nvSpPr>
          <p:cNvPr id="217" name="Diagram UseCase 217"/>
          <p:cNvSpPr/>
          <p:nvPr/>
        </p:nvSpPr>
        <p:spPr>
          <a:xfrm>
            <a:off x="2606040" y="4626864"/>
            <a:ext cx="301752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8" name="Diagram Text 218"/>
          <p:cNvSpPr txBox="1"/>
          <p:nvPr/>
        </p:nvSpPr>
        <p:spPr>
          <a:xfrm>
            <a:off x="2697480" y="46268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Compliance Report</a:t>
            </a:r>
          </a:p>
        </p:txBody>
      </p:sp>
      <p:sp>
        <p:nvSpPr>
          <p:cNvPr id="219" name="Diagram UseCase 219"/>
          <p:cNvSpPr/>
          <p:nvPr/>
        </p:nvSpPr>
        <p:spPr>
          <a:xfrm>
            <a:off x="2606040" y="5212080"/>
            <a:ext cx="301752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0" name="Diagram Text 220"/>
          <p:cNvSpPr txBox="1"/>
          <p:nvPr/>
        </p:nvSpPr>
        <p:spPr>
          <a:xfrm>
            <a:off x="2697480" y="5212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</a:t>
            </a:r>
          </a:p>
        </p:txBody>
      </p:sp>
      <p:sp>
        <p:nvSpPr>
          <p:cNvPr id="221" name="Diagram Actor 221"/>
          <p:cNvSpPr/>
          <p:nvPr/>
        </p:nvSpPr>
        <p:spPr>
          <a:xfrm>
            <a:off x="1563624" y="292608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2" name="Diagram Line 222"/>
          <p:cNvSpPr/>
          <p:nvPr/>
        </p:nvSpPr>
        <p:spPr>
          <a:xfrm>
            <a:off x="1691640" y="3182112"/>
            <a:ext cx="0" cy="36576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3" name="Diagram Line 223"/>
          <p:cNvSpPr/>
          <p:nvPr/>
        </p:nvSpPr>
        <p:spPr>
          <a:xfrm>
            <a:off x="1490472" y="3291840"/>
            <a:ext cx="40233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Diagram Line 224"/>
          <p:cNvSpPr/>
          <p:nvPr/>
        </p:nvSpPr>
        <p:spPr>
          <a:xfrm flipV="1">
            <a:off x="1527048" y="3547872"/>
            <a:ext cx="164592" cy="27432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5" name="Diagram Line 225"/>
          <p:cNvSpPr/>
          <p:nvPr/>
        </p:nvSpPr>
        <p:spPr>
          <a:xfrm>
            <a:off x="1691640" y="3547872"/>
            <a:ext cx="164592" cy="27432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6" name="Diagram Text 226"/>
          <p:cNvSpPr txBox="1"/>
          <p:nvPr/>
        </p:nvSpPr>
        <p:spPr>
          <a:xfrm>
            <a:off x="1143000" y="38679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</a:t>
            </a:r>
          </a:p>
          <a:p>
            <a:pPr marL="0" indent="0" algn="ctr">
              <a:buNone/>
            </a:pPr>
            <a:r>
              <a:rPr lang="en-US" sz="1050" b="1" i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</a:p>
        </p:txBody>
      </p:sp>
      <p:sp>
        <p:nvSpPr>
          <p:cNvPr id="227" name="Diagram Actor 227"/>
          <p:cNvSpPr/>
          <p:nvPr/>
        </p:nvSpPr>
        <p:spPr>
          <a:xfrm>
            <a:off x="6409944" y="438912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8" name="Diagram Line 228"/>
          <p:cNvSpPr/>
          <p:nvPr/>
        </p:nvSpPr>
        <p:spPr>
          <a:xfrm>
            <a:off x="6537960" y="4645152"/>
            <a:ext cx="0" cy="36576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9" name="Diagram Line 229"/>
          <p:cNvSpPr/>
          <p:nvPr/>
        </p:nvSpPr>
        <p:spPr>
          <a:xfrm>
            <a:off x="6336792" y="4754880"/>
            <a:ext cx="40233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0" name="Diagram Line 230"/>
          <p:cNvSpPr/>
          <p:nvPr/>
        </p:nvSpPr>
        <p:spPr>
          <a:xfrm flipV="1">
            <a:off x="6373368" y="5010912"/>
            <a:ext cx="164592" cy="27432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1" name="Diagram Line 231"/>
          <p:cNvSpPr/>
          <p:nvPr/>
        </p:nvSpPr>
        <p:spPr>
          <a:xfrm>
            <a:off x="6537960" y="5010912"/>
            <a:ext cx="164592" cy="27432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2" name="Diagram Text 232"/>
          <p:cNvSpPr txBox="1"/>
          <p:nvPr/>
        </p:nvSpPr>
        <p:spPr>
          <a:xfrm>
            <a:off x="5989320" y="5330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</a:p>
          <a:p>
            <a:pPr marL="0" indent="0" algn="ctr">
              <a:buNone/>
            </a:pPr>
            <a:r>
              <a:rPr lang="en-US" sz="1050" b="1" i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/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has many test records (1:N)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has many compliance reports (1:N)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testType: chemical, microbial or quality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reference batchId (referenced, not embedded)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model based on the README features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  <p:sp>
        <p:nvSpPr>
          <p:cNvPr id="233" name="Diagram Line 233"/>
          <p:cNvSpPr/>
          <p:nvPr/>
        </p:nvSpPr>
        <p:spPr>
          <a:xfrm>
            <a:off x="3520440" y="2633472"/>
            <a:ext cx="105156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4" name="Diagram Line 234"/>
          <p:cNvSpPr/>
          <p:nvPr/>
        </p:nvSpPr>
        <p:spPr>
          <a:xfrm>
            <a:off x="2423160" y="3300984"/>
            <a:ext cx="0" cy="145389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5" name="Diagram Line 235"/>
          <p:cNvSpPr/>
          <p:nvPr/>
        </p:nvSpPr>
        <p:spPr>
          <a:xfrm>
            <a:off x="2423160" y="4754880"/>
            <a:ext cx="5029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6" name="Diagram Entity 236"/>
          <p:cNvSpPr/>
          <p:nvPr/>
        </p:nvSpPr>
        <p:spPr>
          <a:xfrm>
            <a:off x="1325880" y="1965960"/>
            <a:ext cx="2194560" cy="133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7" name="Diagram EntityHead 237"/>
          <p:cNvSpPr/>
          <p:nvPr/>
        </p:nvSpPr>
        <p:spPr>
          <a:xfrm>
            <a:off x="1325880" y="1965960"/>
            <a:ext cx="2194560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8" name="Diagram Text 238"/>
          <p:cNvSpPr txBox="1"/>
          <p:nvPr/>
        </p:nvSpPr>
        <p:spPr>
          <a:xfrm>
            <a:off x="1325880" y="1965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</a:t>
            </a:r>
          </a:p>
        </p:txBody>
      </p:sp>
      <p:sp>
        <p:nvSpPr>
          <p:cNvPr id="239" name="Diagram Text 239"/>
          <p:cNvSpPr txBox="1"/>
          <p:nvPr/>
        </p:nvSpPr>
        <p:spPr>
          <a:xfrm>
            <a:off x="1463040" y="242316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(PK)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batchNumber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productName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</a:p>
        </p:txBody>
      </p:sp>
      <p:sp>
        <p:nvSpPr>
          <p:cNvPr id="240" name="Diagram Entity 240"/>
          <p:cNvSpPr/>
          <p:nvPr/>
        </p:nvSpPr>
        <p:spPr>
          <a:xfrm>
            <a:off x="4572000" y="1965960"/>
            <a:ext cx="237744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1" name="Diagram EntityHead 241"/>
          <p:cNvSpPr/>
          <p:nvPr/>
        </p:nvSpPr>
        <p:spPr>
          <a:xfrm>
            <a:off x="4572000" y="1965960"/>
            <a:ext cx="2377440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2" name="Diagram Text 242"/>
          <p:cNvSpPr txBox="1"/>
          <p:nvPr/>
        </p:nvSpPr>
        <p:spPr>
          <a:xfrm>
            <a:off x="4572000" y="1965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TestRecord</a:t>
            </a:r>
          </a:p>
        </p:txBody>
      </p:sp>
      <p:sp>
        <p:nvSpPr>
          <p:cNvPr id="243" name="Diagram Text 243"/>
          <p:cNvSpPr txBox="1"/>
          <p:nvPr/>
        </p:nvSpPr>
        <p:spPr>
          <a:xfrm>
            <a:off x="470916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(PK)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batchId (FK)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testType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testedAt</a:t>
            </a:r>
          </a:p>
        </p:txBody>
      </p:sp>
      <p:sp>
        <p:nvSpPr>
          <p:cNvPr id="244" name="Diagram Entity 244"/>
          <p:cNvSpPr/>
          <p:nvPr/>
        </p:nvSpPr>
        <p:spPr>
          <a:xfrm>
            <a:off x="2926080" y="4114800"/>
            <a:ext cx="2377440" cy="133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Diagram EntityHead 245"/>
          <p:cNvSpPr/>
          <p:nvPr/>
        </p:nvSpPr>
        <p:spPr>
          <a:xfrm>
            <a:off x="2926080" y="4114800"/>
            <a:ext cx="2377440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6" name="Diagram Text 246"/>
          <p:cNvSpPr txBox="1"/>
          <p:nvPr/>
        </p:nvSpPr>
        <p:spPr>
          <a:xfrm>
            <a:off x="2926080" y="4114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ComplianceReport</a:t>
            </a:r>
          </a:p>
        </p:txBody>
      </p:sp>
      <p:sp>
        <p:nvSpPr>
          <p:cNvPr id="247" name="Diagram Text 247"/>
          <p:cNvSpPr txBox="1"/>
          <p:nvPr/>
        </p:nvSpPr>
        <p:spPr>
          <a:xfrm>
            <a:off x="3063240" y="457200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(PK)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batchId (FK)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generatedAt</a:t>
            </a:r>
          </a:p>
        </p:txBody>
      </p:sp>
      <p:sp>
        <p:nvSpPr>
          <p:cNvPr id="248" name="Diagram Text 248"/>
          <p:cNvSpPr txBox="1"/>
          <p:nvPr/>
        </p:nvSpPr>
        <p:spPr>
          <a:xfrm>
            <a:off x="3566160" y="23957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i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249" name="Diagram Text 249"/>
          <p:cNvSpPr txBox="1"/>
          <p:nvPr/>
        </p:nvSpPr>
        <p:spPr>
          <a:xfrm>
            <a:off x="4315968" y="23957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i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</a:p>
        </p:txBody>
      </p:sp>
      <p:sp>
        <p:nvSpPr>
          <p:cNvPr id="250" name="Diagram Text 250"/>
          <p:cNvSpPr txBox="1"/>
          <p:nvPr/>
        </p:nvSpPr>
        <p:spPr>
          <a:xfrm>
            <a:off x="3794760" y="2395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</a:p>
        </p:txBody>
      </p:sp>
      <p:sp>
        <p:nvSpPr>
          <p:cNvPr id="251" name="Diagram Text 251"/>
          <p:cNvSpPr txBox="1"/>
          <p:nvPr/>
        </p:nvSpPr>
        <p:spPr>
          <a:xfrm>
            <a:off x="2487168" y="33467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i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252" name="Diagram Text 252"/>
          <p:cNvSpPr txBox="1"/>
          <p:nvPr/>
        </p:nvSpPr>
        <p:spPr>
          <a:xfrm>
            <a:off x="2487168" y="45079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i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</a:p>
        </p:txBody>
      </p:sp>
      <p:sp>
        <p:nvSpPr>
          <p:cNvPr id="253" name="Diagram Text 253"/>
          <p:cNvSpPr txBox="1"/>
          <p:nvPr/>
        </p:nvSpPr>
        <p:spPr>
          <a:xfrm>
            <a:off x="2487168" y="3931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tracking &amp; traceability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Add, View, Trace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Chemical, microbial &amp; quality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Record, View, 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reporting &amp; audit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Report, Audit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&amp; quality overview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Overview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the React client to MongoDB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/ Write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348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(dependency install &amp; scripts)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server/.env (environment configuration)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MongoDB instance (foodlab database)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 (starts client and server together)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Notes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 for the four features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as the landing view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summaries above a records table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in the browser at localhost:5173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wireframe, not a screenshot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  <p:sp>
        <p:nvSpPr>
          <p:cNvPr id="254" name="Wire Frame 254"/>
          <p:cNvSpPr/>
          <p:nvPr/>
        </p:nvSpPr>
        <p:spPr>
          <a:xfrm>
            <a:off x="1371600" y="1874520"/>
            <a:ext cx="5486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5" name="Wire TopBar 255"/>
          <p:cNvSpPr/>
          <p:nvPr/>
        </p:nvSpPr>
        <p:spPr>
          <a:xfrm>
            <a:off x="1371600" y="1874520"/>
            <a:ext cx="548640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6" name="Diagram Text 256"/>
          <p:cNvSpPr txBox="1"/>
          <p:nvPr/>
        </p:nvSpPr>
        <p:spPr>
          <a:xfrm>
            <a:off x="150876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Lab Management System</a:t>
            </a:r>
          </a:p>
        </p:txBody>
      </p:sp>
      <p:sp>
        <p:nvSpPr>
          <p:cNvPr id="257" name="Wire Sidebar 257"/>
          <p:cNvSpPr/>
          <p:nvPr/>
        </p:nvSpPr>
        <p:spPr>
          <a:xfrm>
            <a:off x="1371600" y="2240280"/>
            <a:ext cx="1371600" cy="3154680"/>
          </a:xfrm>
          <a:prstGeom prst="rect">
            <a:avLst/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8" name="Wire NavActive 258"/>
          <p:cNvSpPr/>
          <p:nvPr/>
        </p:nvSpPr>
        <p:spPr>
          <a:xfrm>
            <a:off x="1463040" y="2395728"/>
            <a:ext cx="1188720" cy="329184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9" name="Diagram Text 259"/>
          <p:cNvSpPr txBox="1"/>
          <p:nvPr/>
        </p:nvSpPr>
        <p:spPr>
          <a:xfrm>
            <a:off x="1554480" y="23957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</a:p>
        </p:txBody>
      </p:sp>
      <p:sp>
        <p:nvSpPr>
          <p:cNvPr id="260" name="Diagram Text 260"/>
          <p:cNvSpPr txBox="1"/>
          <p:nvPr/>
        </p:nvSpPr>
        <p:spPr>
          <a:xfrm>
            <a:off x="1554480" y="28529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</a:t>
            </a:r>
          </a:p>
        </p:txBody>
      </p:sp>
      <p:sp>
        <p:nvSpPr>
          <p:cNvPr id="261" name="Diagram Text 261"/>
          <p:cNvSpPr txBox="1"/>
          <p:nvPr/>
        </p:nvSpPr>
        <p:spPr>
          <a:xfrm>
            <a:off x="1554480" y="33101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Records</a:t>
            </a:r>
          </a:p>
        </p:txBody>
      </p:sp>
      <p:sp>
        <p:nvSpPr>
          <p:cNvPr id="262" name="Diagram Text 262"/>
          <p:cNvSpPr txBox="1"/>
          <p:nvPr/>
        </p:nvSpPr>
        <p:spPr>
          <a:xfrm>
            <a:off x="1554480" y="37673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0" i="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</a:p>
        </p:txBody>
      </p:sp>
      <p:sp>
        <p:nvSpPr>
          <p:cNvPr id="263" name="Wire Card 263"/>
          <p:cNvSpPr/>
          <p:nvPr/>
        </p:nvSpPr>
        <p:spPr>
          <a:xfrm>
            <a:off x="2926080" y="2423160"/>
            <a:ext cx="1143000" cy="868680"/>
          </a:xfrm>
          <a:prstGeom prst="roundRect">
            <a:avLst>
              <a:gd name="adj" fmla="val 6000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4" name="Diagram Text 264"/>
          <p:cNvSpPr txBox="1"/>
          <p:nvPr/>
        </p:nvSpPr>
        <p:spPr>
          <a:xfrm>
            <a:off x="2971800" y="242316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Overview</a:t>
            </a:r>
          </a:p>
        </p:txBody>
      </p:sp>
      <p:sp>
        <p:nvSpPr>
          <p:cNvPr id="265" name="Wire Card 265"/>
          <p:cNvSpPr/>
          <p:nvPr/>
        </p:nvSpPr>
        <p:spPr>
          <a:xfrm>
            <a:off x="4206240" y="2423160"/>
            <a:ext cx="1143000" cy="868680"/>
          </a:xfrm>
          <a:prstGeom prst="roundRect">
            <a:avLst>
              <a:gd name="adj" fmla="val 6000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6" name="Diagram Text 266"/>
          <p:cNvSpPr txBox="1"/>
          <p:nvPr/>
        </p:nvSpPr>
        <p:spPr>
          <a:xfrm>
            <a:off x="4251960" y="242316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Summary</a:t>
            </a:r>
          </a:p>
        </p:txBody>
      </p:sp>
      <p:sp>
        <p:nvSpPr>
          <p:cNvPr id="267" name="Wire Card 267"/>
          <p:cNvSpPr/>
          <p:nvPr/>
        </p:nvSpPr>
        <p:spPr>
          <a:xfrm>
            <a:off x="5486400" y="2423160"/>
            <a:ext cx="1143000" cy="868680"/>
          </a:xfrm>
          <a:prstGeom prst="roundRect">
            <a:avLst>
              <a:gd name="adj" fmla="val 6000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8" name="Diagram Text 268"/>
          <p:cNvSpPr txBox="1"/>
          <p:nvPr/>
        </p:nvSpPr>
        <p:spPr>
          <a:xfrm>
            <a:off x="5532120" y="242316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Status</a:t>
            </a:r>
          </a:p>
        </p:txBody>
      </p:sp>
      <p:sp>
        <p:nvSpPr>
          <p:cNvPr id="269" name="Wire Table 269"/>
          <p:cNvSpPr/>
          <p:nvPr/>
        </p:nvSpPr>
        <p:spPr>
          <a:xfrm>
            <a:off x="2926080" y="3474720"/>
            <a:ext cx="3749040" cy="1783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0" name="Wire TableHead 270"/>
          <p:cNvSpPr/>
          <p:nvPr/>
        </p:nvSpPr>
        <p:spPr>
          <a:xfrm>
            <a:off x="2926080" y="3474720"/>
            <a:ext cx="3749040" cy="320040"/>
          </a:xfrm>
          <a:prstGeom prst="rect">
            <a:avLst/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1" name="Diagram Text 271"/>
          <p:cNvSpPr txBox="1"/>
          <p:nvPr/>
        </p:nvSpPr>
        <p:spPr>
          <a:xfrm>
            <a:off x="306324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i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Table</a:t>
            </a:r>
          </a:p>
        </p:txBody>
      </p:sp>
      <p:sp>
        <p:nvSpPr>
          <p:cNvPr id="272" name="Diagram Line 272"/>
          <p:cNvSpPr/>
          <p:nvPr/>
        </p:nvSpPr>
        <p:spPr>
          <a:xfrm>
            <a:off x="3017520" y="4123944"/>
            <a:ext cx="356616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3" name="Diagram Line 273"/>
          <p:cNvSpPr/>
          <p:nvPr/>
        </p:nvSpPr>
        <p:spPr>
          <a:xfrm>
            <a:off x="3017520" y="4453128"/>
            <a:ext cx="356616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4" name="Diagram Line 274"/>
          <p:cNvSpPr/>
          <p:nvPr/>
        </p:nvSpPr>
        <p:spPr>
          <a:xfrm>
            <a:off x="3017520" y="4782312"/>
            <a:ext cx="356616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5" name="Diagram Line 275"/>
          <p:cNvSpPr/>
          <p:nvPr/>
        </p:nvSpPr>
        <p:spPr>
          <a:xfrm>
            <a:off x="3017520" y="5111496"/>
            <a:ext cx="356616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6" name="Diagram Text 276"/>
          <p:cNvSpPr txBox="1"/>
          <p:nvPr/>
        </p:nvSpPr>
        <p:spPr>
          <a:xfrm>
            <a:off x="1371600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0" i="1" dirty="0">
                <a:solidFill>
                  <a:srgbClr val="5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layout only. Not a screenshot of the built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 in the client folder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for batches, tests, compliance &amp; dashboard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the Express API for data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browser at http://localhost:5173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installed with npm install --prefix client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the server using npm run dev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frontend lives in the client folder and is served at http://localhost:5173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API in the server folder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models defined for application data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loaded from server/.env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runs on PORT=5000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installed with npm install --prefix server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together with the client using npm run dev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reads PORT and MONGO_URI from server/.env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MongoDB used as the data store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name: foodlab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models defined in the server folder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set through MONGO_URI in server/.env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collections: batches, test records, compliance reports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API work on top of the same database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MONGO_URI=mongodb://127.0.0.1:27017/foodlab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Design (Proposed Endpoints)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batches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batch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/api/batches/:id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and trace a batch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a chemical, microbial or quality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compliance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&amp; quality overview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Implementation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0972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Tracking &amp; Traceability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709160" y="18288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project scope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Records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709160" y="245059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project scope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 &amp; Audit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709160" y="307238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project scope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Quality Dashboard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4709160" y="369417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project scope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(server)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709160" y="43159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documented in README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(client)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0" y="499262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4709160" y="49377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documented in README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4005CA4-9F39-FC79-FAE7-5CEAE0BAA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576" y="1579573"/>
            <a:ext cx="3493647" cy="234320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4D09A5-EC0B-00EB-39EF-083B86B94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443" y="1579574"/>
            <a:ext cx="3815213" cy="234320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BDEC274-E99A-B965-2E14-97FE58AD2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3576" y="4130748"/>
            <a:ext cx="3550620" cy="22652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B8D38B8-7909-1C16-A8D0-7298587D53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443" y="4052840"/>
            <a:ext cx="3884139" cy="23431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Challenges &amp; 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not running locally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MongoDB before launching the 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separate dependency installs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npm install for root, server and 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client and server together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npm run dev to start both 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environment settings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PORT and MONGO_URI in server/.env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 &amp;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login and role-based access for lab staff and managers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alerts for failed or overdue quality tests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compliance reports for audits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dashboard with trend analysis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integration &amp; user-acceptance testing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final documentation &amp; demo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README — Food Processing Laboratory Management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— Official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Express.js — Official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 and Node.js — Official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Laboratory Management System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1919</Words>
  <Application>Microsoft Office PowerPoint</Application>
  <PresentationFormat>Widescreen</PresentationFormat>
  <Paragraphs>346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Sarath raj V</cp:lastModifiedBy>
  <cp:revision>4</cp:revision>
  <dcterms:created xsi:type="dcterms:W3CDTF">2026-09-22T17:17:28Z</dcterms:created>
  <dcterms:modified xsi:type="dcterms:W3CDTF">2026-10-14T06:01:20Z</dcterms:modified>
</cp:coreProperties>
</file>